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Arial"/>
              </a:defRPr>
            </a:pPr>
            <a:r>
              <a:t>Manifesto — Studio W230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The AI Revolution is Over.</a:t>
            </a:r>
            <a:br/>
            <a:r>
              <a:t>The Evaluation Revolution Just Started.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When generation gets cheap, evaluation becomes the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Arial"/>
              </a:defRPr>
            </a:pPr>
            <a:r>
              <a:t>Simone Leonelli — 16 years building taste systems for luxury brands.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Arial"/>
              </a:defRPr>
            </a:pPr>
            <a:r>
              <a:t>January 2026   v3.2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01 — The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The "Generation at Scale" Lie.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solidFill>
            <a:srgbClr val="1A1A1A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Q3 2025: The Corpse</a:t>
            </a:r>
            <a:br/>
            <a:r>
              <a:t>A Fortune 500 retailer shipped 50,000 AI-generated product emails. 12% contained hallucinations. Revenue dropped 15%.</a:t>
            </a:r>
            <a:br/>
            <a:r>
              <a:t>This is the Taste Infrastructure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</a:defRPr>
            </a:pPr>
            <a:r>
              <a:t>The Villain</a:t>
            </a:r>
            <a:br/>
            <a:r>
              <a:t>Vibe-Driven Deployment</a:t>
            </a:r>
            <a:br/>
            <a:r>
              <a:t>"It looks fine to me."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4572000"/>
            <a:ext cx="53035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The Hero</a:t>
            </a:r>
            <a:br/>
            <a:r>
              <a:t>Taste Infrastructure</a:t>
            </a:r>
            <a:br/>
            <a:r>
              <a:t>"We can prove it's safe."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02 — The Inversion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Stated precisely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2286000"/>
            <a:ext cx="0" cy="320040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71600" y="5486400"/>
            <a:ext cx="7772400" cy="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71600" y="2743200"/>
            <a:ext cx="7772400" cy="2560320"/>
          </a:xfrm>
          <a:prstGeom prst="curvedConnector3">
            <a:avLst/>
          </a:prstGeom>
          <a:ln w="254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23544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Generation Cost (Collapsing)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371600" y="2743200"/>
            <a:ext cx="7772400" cy="182880"/>
          </a:xfrm>
          <a:prstGeom prst="curvedConnector3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23544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Evaluation Cost (Sticky)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  <a:latin typeface="Arial"/>
              </a:defRPr>
            </a:pPr>
            <a:r>
              <a:t>THE DANGER ZONE:</a:t>
            </a:r>
            <a:br/>
            <a:r>
              <a:t>Where speed kills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rial"/>
              </a:defRPr>
            </a:pPr>
            <a:r>
              <a:t>1. Marginal cost of generating is collapsing.</a:t>
            </a:r>
            <a:br/>
            <a:r>
              <a:t>2. Marginal cost of validating is NOT collapsing.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03 — What Judgment Really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The Luxury Parallel: Hermès doesn't ship "mostly good" bags.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In AI, we can BUILD judgment systems. Scale them. Prove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457200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Training time</a:t>
            </a:r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5-20 years</a:t>
            </a:r>
          </a:p>
          <a:p>
            <a:r>
              <a:t>(Human)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3657600"/>
            <a:ext cx="457200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Inference time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Milliseconds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(System)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08080"/>
                </a:solidFill>
                <a:latin typeface="Arial"/>
              </a:defRPr>
            </a:pPr>
            <a:r>
              <a:t>"Judgment can be instant, but it is rarely free. Someone paid for it in years."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04 —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Why value accrues to judgment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t>In markets, rents concentrate at constraints.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4572000" cy="2286000"/>
          </a:xfrm>
          <a:prstGeom prst="rect">
            <a:avLst/>
          </a:prstGeom>
          <a:solidFill>
            <a:srgbClr val="323232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59E0B"/>
                </a:solidFill>
              </a:defRPr>
            </a:pPr>
            <a:r>
              <a:t>The $10 Rule</a:t>
            </a:r>
          </a:p>
          <a:p/>
          <a:p>
            <a:r>
              <a:t>Every dollar you save on cheap generation, you will spend $10 on cleaning up the mess if you don't have evaluation gates.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3200400"/>
            <a:ext cx="4572000" cy="2286000"/>
          </a:xfrm>
          <a:prstGeom prst="rect">
            <a:avLst/>
          </a:prstGeom>
          <a:solidFill>
            <a:srgbClr val="323232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59E0B"/>
                </a:solidFill>
              </a:defRPr>
            </a:pPr>
            <a:r>
              <a:t>Shifting Constraints</a:t>
            </a:r>
          </a:p>
          <a:p/>
          <a:p>
            <a:r>
              <a:t>2010: Distribution (Netflix)</a:t>
            </a:r>
          </a:p>
          <a:p>
            <a:r>
              <a:t>2020: Content (Creators)</a:t>
            </a:r>
          </a:p>
          <a:p>
            <a:r>
              <a:t>2025: Selection (Curators win)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05 — The Enterprise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The Cost of Ignorance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rial"/>
              </a:defRPr>
            </a:pPr>
            <a:r>
              <a:t>The Nightmare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t>Your competitor just shipped 10,000 AI descriptions. Half are wrong. Revenue drops 15%. They can't trace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rial"/>
              </a:defRPr>
            </a:pPr>
            <a:r>
              <a:t>THE SIMPLE MATH (ROI)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Cost to build gate: $200k-500k</a:t>
            </a:r>
            <a:br/>
            <a:r>
              <a:t>• Cost of brand disaster: $5M-50M</a:t>
            </a:r>
            <a:br/>
            <a:r>
              <a:t>• Break-even probability: 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06 — The Arbitrage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Where the market is still asleep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2286000"/>
            <a:ext cx="0" cy="320040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71600" y="5486400"/>
            <a:ext cx="7772400" cy="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71600" y="2286000"/>
            <a:ext cx="7772400" cy="3017520"/>
          </a:xfrm>
          <a:prstGeom prst="line">
            <a:avLst/>
          </a:prstGeom>
          <a:ln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2354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08080"/>
                </a:solidFill>
                <a:latin typeface="Arial"/>
              </a:defRPr>
            </a:pPr>
            <a:r>
              <a:t>Tech Skills Value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371600" y="2286000"/>
            <a:ext cx="7772400" cy="301752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2354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Judgment Value</a:t>
            </a:r>
          </a:p>
        </p:txBody>
      </p:sp>
      <p:sp>
        <p:nvSpPr>
          <p:cNvPr id="10" name="Oval 9"/>
          <p:cNvSpPr/>
          <p:nvPr/>
        </p:nvSpPr>
        <p:spPr>
          <a:xfrm>
            <a:off x="5029200" y="3474720"/>
            <a:ext cx="365760" cy="365760"/>
          </a:xfrm>
          <a:prstGeom prst="ellipse">
            <a:avLst/>
          </a:prstGeom>
          <a:noFill/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CROSSOVER: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Arial"/>
              </a:defRPr>
            </a:pPr>
            <a:r>
              <a:t>CTO: Hire for taste.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943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Arial"/>
              </a:defRPr>
            </a:pPr>
            <a:r>
              <a:t>INVESTOR: Bet on Eval Infra.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943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Arial"/>
              </a:defRPr>
            </a:pPr>
            <a:r>
              <a:t>FOUNDER: Hire judges.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07 — The Gatekeeper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Your stack is a funnel, not a checklist.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32720" cy="3657600"/>
          </a:xfrm>
          <a:prstGeom prst="rect">
            <a:avLst/>
          </a:prstGeom>
          <a:solidFill>
            <a:srgbClr val="28282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C8C8C8"/>
                </a:solidFill>
                <a:latin typeface="Courier New"/>
              </a:defRPr>
            </a:pPr>
            <a:r>
              <a:t>INPUT: 1,000 Candidates</a:t>
            </a:r>
          </a:p>
          <a:p>
            <a:pPr>
              <a:defRPr sz="1400">
                <a:solidFill>
                  <a:srgbClr val="C8C8C8"/>
                </a:solidFill>
                <a:latin typeface="Courier New"/>
              </a:defRPr>
            </a:pPr>
            <a:r>
              <a:t>↓</a:t>
            </a:r>
          </a:p>
          <a:p>
            <a:pPr>
              <a:defRPr sz="1400">
                <a:solidFill>
                  <a:srgbClr val="C8C8C8"/>
                </a:solidFill>
                <a:latin typeface="Courier New"/>
              </a:defRPr>
            </a:pPr>
            <a:r>
              <a:t>GATE 1: SAFETY (PII, Regex) -&gt; 99.8% Survival</a:t>
            </a:r>
          </a:p>
          <a:p>
            <a:pPr>
              <a:defRPr sz="1400">
                <a:solidFill>
                  <a:srgbClr val="C8C8C8"/>
                </a:solidFill>
                <a:latin typeface="Courier New"/>
              </a:defRPr>
            </a:pPr>
            <a:r>
              <a:t>↓</a:t>
            </a:r>
          </a:p>
          <a:p>
            <a:pPr>
              <a:defRPr sz="1400">
                <a:solidFill>
                  <a:srgbClr val="C8C8C8"/>
                </a:solidFill>
                <a:latin typeface="Courier New"/>
              </a:defRPr>
            </a:pPr>
            <a:r>
              <a:t>GATE 2: TECHNICAL (Hallucinations) -&gt; 94% Survival</a:t>
            </a:r>
          </a:p>
          <a:p>
            <a:pPr>
              <a:defRPr sz="1400">
                <a:solidFill>
                  <a:srgbClr val="C8C8C8"/>
                </a:solidFill>
                <a:latin typeface="Courier New"/>
              </a:defRPr>
            </a:pPr>
            <a:r>
              <a:t>↓</a:t>
            </a:r>
          </a:p>
          <a:p>
            <a:pPr>
              <a:defRPr sz="1400">
                <a:solidFill>
                  <a:srgbClr val="C8C8C8"/>
                </a:solidFill>
                <a:latin typeface="Courier New"/>
              </a:defRPr>
            </a:pPr>
            <a:r>
              <a:t>GATE 3: BRAND FIT (LLM Judge) -&gt; 87% Survival</a:t>
            </a:r>
          </a:p>
          <a:p>
            <a:pPr>
              <a:defRPr sz="1400">
                <a:solidFill>
                  <a:srgbClr val="C8C8C8"/>
                </a:solidFill>
                <a:latin typeface="Courier New"/>
              </a:defRPr>
            </a:pPr>
            <a:r>
              <a:t>↓</a:t>
            </a:r>
          </a:p>
          <a:p>
            <a:pPr>
              <a:defRPr sz="1400">
                <a:solidFill>
                  <a:srgbClr val="C8C8C8"/>
                </a:solidFill>
                <a:latin typeface="Courier New"/>
              </a:defRPr>
            </a:pPr>
            <a:r>
              <a:t>GATE 4: EXCELLENCE (Reward Model) -&gt; 78% Survival</a:t>
            </a:r>
          </a:p>
          <a:p>
            <a:pPr>
              <a:defRPr sz="1400">
                <a:solidFill>
                  <a:srgbClr val="C8C8C8"/>
                </a:solidFill>
                <a:latin typeface="Courier New"/>
              </a:defRPr>
            </a:pPr>
            <a:r>
              <a:t>↓</a:t>
            </a:r>
          </a:p>
          <a:p>
            <a:pPr>
              <a:defRPr sz="1400">
                <a:solidFill>
                  <a:srgbClr val="C8C8C8"/>
                </a:solidFill>
                <a:latin typeface="Courier New"/>
              </a:defRPr>
            </a:pPr>
            <a:r>
              <a:t>SHIP: 64% Final Pass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9E0B"/>
                </a:solidFill>
                <a:latin typeface="Arial"/>
              </a:defRPr>
            </a:pPr>
            <a:r>
              <a:t>The Litmus Test: If you cannot automatically reject the bottom 30%, you don't have infrastructure. You have hope.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08 — Falsifiable Bets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Career-Defining 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58952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 Bet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 Stakes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 Talent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By 2027, no F500 will promote an AI lead who cannot explain their eval metrics.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 Budget Flip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By 2028, enterprises will spend 3x more on Evaluation than on Foundation Models.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 New Unicorn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 next $10B AI company won't be a model lab. It will be an Eval Infra company.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09 — Skin in the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Why this is my life's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8C8C8"/>
                </a:solidFill>
                <a:latin typeface="Arial"/>
              </a:defRPr>
            </a:pPr>
            <a:r>
              <a:t>Before my current role: 16 years building taste systems for luxury brands (Fendi, Bentley). I'm building W230 to fix the AI quality gap.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5029200" cy="274320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59E0B"/>
                </a:solidFill>
              </a:defRPr>
            </a:pPr>
            <a:r>
              <a:t>THE SAVE (CONCRETE PROOF)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>
                <a:solidFill>
                  <a:srgbClr val="FFFFFF"/>
                </a:solidFill>
              </a:defRPr>
            </a:pPr>
            <a:r>
              <a:t>Finding: 8% factual errors in baseline.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Exposure: $15M potential risk.</a:t>
            </a:r>
          </a:p>
          <a:p>
            <a:r>
              <a:t>Result: 125x ROI. Quality became the edge.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926080"/>
            <a:ext cx="5029200" cy="274320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808080"/>
                </a:solidFill>
              </a:defRPr>
            </a:pPr>
            <a:r>
              <a:t>BACKGROUND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>
                <a:solidFill>
                  <a:srgbClr val="FFFFFF"/>
                </a:solidFill>
              </a:defRPr>
            </a:pPr>
            <a:r>
              <a:t>Luxury Brands (Fendi, Bentley, LVMH)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Studio W230 (Since 2016)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MIT Applied Agentic AI (2025)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10 — The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Arial"/>
              </a:defRPr>
            </a:pPr>
            <a:r>
              <a:t>You are either building this now,</a:t>
            </a:r>
            <a:br/>
            <a:r>
              <a:t>or you are cleaning up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59E0B"/>
                </a:solidFill>
                <a:latin typeface="Arial"/>
              </a:defRPr>
            </a:pPr>
            <a:r>
              <a:t>Choose.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80"/>
                </a:solidFill>
                <a:latin typeface="Arial"/>
              </a:defRPr>
            </a:pPr>
            <a:r>
              <a:t>Studio W230 — Invite-only evaluation audits launching 2026.</a:t>
            </a:r>
            <a:br/>
            <a:r>
              <a:t>Register: simone@w230.net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08080"/>
                </a:solidFill>
                <a:latin typeface="Arial"/>
              </a:defRPr>
            </a:pPr>
            <a:r>
              <a:t>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For those who want to go deeper.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 b="0">
                <a:solidFill>
                  <a:srgbClr val="000000"/>
                </a:solidFill>
                <a:latin typeface="Arial"/>
              </a:defRPr>
            </a:pPr>
            <a:r>
              <a:t>Kahneman (2011) — Thinking, Fast and Slow</a:t>
            </a:r>
            <a:br/>
            <a:r>
              <a:t>Simon (1971) — Designing Organizations for an Information-Rich World</a:t>
            </a:r>
            <a:br/>
            <a:r>
              <a:t>Gartner (2025) — The Case for AI Quality Gates</a:t>
            </a:r>
            <a:br/>
            <a:r>
              <a:t>Anthropic — Model Evaluation &amp; Constitutional AI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